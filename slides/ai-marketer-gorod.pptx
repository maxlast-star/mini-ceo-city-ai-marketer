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ление" id="{829cfce3-f49e-8c5d-90ed-5ad0d69e25b9}">
          <p14:sldIdLst>
            <p14:sldId id="256"/>
            <p14:sldId id="257"/>
          </p14:sldIdLst>
        </p14:section>
        <p14:section name="Как есть" id="{57c56076-e65e-cdb1-0fcc-adaf5456f725}">
          <p14:sldIdLst>
            <p14:sldId id="258"/>
            <p14:sldId id="259"/>
          </p14:sldIdLst>
        </p14:section>
        <p14:section name="Решение" id="{823e206a-8d45-4563-0421-83764a6d75dd}">
          <p14:sldIdLst>
            <p14:sldId id="260"/>
            <p14:sldId id="261"/>
            <p14:sldId id="262"/>
            <p14:sldId id="263"/>
          </p14:sldIdLst>
        </p14:section>
        <p14:section name="Качество и риски" id="{aca190ec-5e9f-bb3e-9c45-c581916c0cb3}">
          <p14:sldIdLst>
            <p14:sldId id="264"/>
            <p14:sldId id="265"/>
          </p14:sldIdLst>
        </p14:section>
        <p14:section name="Экономика и пилот" id="{89231e52-4c95-7b49-2c74-0f452bcae0f3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47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6472"/>
                </a:solidFill>
                <a:latin typeface="+mn-lt"/>
              </a:rPr>
              <a:t>48,4 млн ₽ в месяц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Расходы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1E23"/>
              </a:solidFill>
              <a:effectLst/>
            </c:spPr>
          </c:dPt>
          <c:dPt>
            <c:idx val="1"/>
            <c:bubble3D val="0"/>
            <c:spPr>
              <a:solidFill>
                <a:srgbClr val="FFC21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Коммуникации</c:v>
                </c:pt>
                <c:pt idx="1">
                  <c:v>Команда запуска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40</c:v>
                </c:pt>
                <c:pt idx="1">
                  <c:v>8.4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B1E2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База: только FTE</c:v>
                </c:pt>
              </c:strCache>
            </c:strRef>
          </c:tx>
          <c:spPr>
            <a:solidFill>
              <a:srgbClr val="1B1E23"/>
            </a:solidFill>
            <a:ln w="31750" cap="flat">
              <a:solidFill>
                <a:srgbClr val="1B1E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1E23"/>
              </a:solidFill>
              <a:ln w="9525" cap="flat">
                <a:solidFill>
                  <a:srgbClr val="1B1E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</c:lvl>
              </c:multiLvlStrCache>
            </c:multiLvl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-5.05</c:v>
                </c:pt>
                <c:pt idx="1">
                  <c:v>-8.91</c:v>
                </c:pt>
                <c:pt idx="2">
                  <c:v>-12.77</c:v>
                </c:pt>
                <c:pt idx="3">
                  <c:v>-16.63</c:v>
                </c:pt>
                <c:pt idx="4">
                  <c:v>-20.49</c:v>
                </c:pt>
                <c:pt idx="5">
                  <c:v>-24.35</c:v>
                </c:pt>
                <c:pt idx="6">
                  <c:v>-28.21</c:v>
                </c:pt>
                <c:pt idx="7">
                  <c:v>-32.08</c:v>
                </c:pt>
                <c:pt idx="8">
                  <c:v>-35.5</c:v>
                </c:pt>
                <c:pt idx="9">
                  <c:v>-38.47</c:v>
                </c:pt>
                <c:pt idx="10">
                  <c:v>-40.98</c:v>
                </c:pt>
                <c:pt idx="11">
                  <c:v>-40.64</c:v>
                </c:pt>
                <c:pt idx="12">
                  <c:v>-39.84</c:v>
                </c:pt>
                <c:pt idx="13">
                  <c:v>-38.58</c:v>
                </c:pt>
                <c:pt idx="14">
                  <c:v>-37.32</c:v>
                </c:pt>
                <c:pt idx="15">
                  <c:v>-36.06</c:v>
                </c:pt>
                <c:pt idx="16">
                  <c:v>-34.8</c:v>
                </c:pt>
                <c:pt idx="17">
                  <c:v>-33.53</c:v>
                </c:pt>
                <c:pt idx="18">
                  <c:v>-32.27</c:v>
                </c:pt>
                <c:pt idx="19">
                  <c:v>-31.01</c:v>
                </c:pt>
                <c:pt idx="20">
                  <c:v>-29.75</c:v>
                </c:pt>
                <c:pt idx="21">
                  <c:v>-28.49</c:v>
                </c:pt>
                <c:pt idx="22">
                  <c:v>-27.22</c:v>
                </c:pt>
                <c:pt idx="23">
                  <c:v>-25.96</c:v>
                </c:pt>
                <c:pt idx="24">
                  <c:v>-24.7</c:v>
                </c:pt>
                <c:pt idx="25">
                  <c:v>-23.44</c:v>
                </c:pt>
                <c:pt idx="26">
                  <c:v>-22.18</c:v>
                </c:pt>
                <c:pt idx="27">
                  <c:v>-20.91</c:v>
                </c:pt>
                <c:pt idx="28">
                  <c:v>-19.65</c:v>
                </c:pt>
                <c:pt idx="29">
                  <c:v>-18.39</c:v>
                </c:pt>
                <c:pt idx="30">
                  <c:v>-17.13</c:v>
                </c:pt>
                <c:pt idx="31">
                  <c:v>-15.87</c:v>
                </c:pt>
                <c:pt idx="32">
                  <c:v>-14.6</c:v>
                </c:pt>
                <c:pt idx="33">
                  <c:v>-13.34</c:v>
                </c:pt>
                <c:pt idx="34">
                  <c:v>-12.08</c:v>
                </c:pt>
                <c:pt idx="35">
                  <c:v>-10.82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База + 2% на каналах</c:v>
                </c:pt>
              </c:strCache>
            </c:strRef>
          </c:tx>
          <c:spPr>
            <a:solidFill>
              <a:srgbClr val="1F7A4D"/>
            </a:solidFill>
            <a:ln w="31750" cap="flat">
              <a:solidFill>
                <a:srgbClr val="1F7A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7A4D"/>
              </a:solidFill>
              <a:ln w="9525" cap="flat">
                <a:solidFill>
                  <a:srgbClr val="1F7A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</c:lvl>
              </c:multiLvlStrCache>
            </c:multiLvlStrRef>
          </c:cat>
          <c:val>
            <c:numRef>
              <c:f>Sheet1!$C$2:$C$37</c:f>
              <c:numCache>
                <c:formatCode>General</c:formatCode>
                <c:ptCount val="36"/>
                <c:pt idx="0">
                  <c:v>-5.05</c:v>
                </c:pt>
                <c:pt idx="1">
                  <c:v>-8.91</c:v>
                </c:pt>
                <c:pt idx="2">
                  <c:v>-12.77</c:v>
                </c:pt>
                <c:pt idx="3">
                  <c:v>-16.63</c:v>
                </c:pt>
                <c:pt idx="4">
                  <c:v>-20.49</c:v>
                </c:pt>
                <c:pt idx="5">
                  <c:v>-24.35</c:v>
                </c:pt>
                <c:pt idx="6">
                  <c:v>-28.08</c:v>
                </c:pt>
                <c:pt idx="7">
                  <c:v>-31.68</c:v>
                </c:pt>
                <c:pt idx="8">
                  <c:v>-34.7</c:v>
                </c:pt>
                <c:pt idx="9">
                  <c:v>-37.14</c:v>
                </c:pt>
                <c:pt idx="10">
                  <c:v>-38.98</c:v>
                </c:pt>
                <c:pt idx="11">
                  <c:v>-37.84</c:v>
                </c:pt>
                <c:pt idx="12">
                  <c:v>-36.24</c:v>
                </c:pt>
                <c:pt idx="13">
                  <c:v>-34.18</c:v>
                </c:pt>
                <c:pt idx="14">
                  <c:v>-32.12</c:v>
                </c:pt>
                <c:pt idx="15">
                  <c:v>-30.06</c:v>
                </c:pt>
                <c:pt idx="16">
                  <c:v>-28</c:v>
                </c:pt>
                <c:pt idx="17">
                  <c:v>-25.93</c:v>
                </c:pt>
                <c:pt idx="18">
                  <c:v>-23.87</c:v>
                </c:pt>
                <c:pt idx="19">
                  <c:v>-21.81</c:v>
                </c:pt>
                <c:pt idx="20">
                  <c:v>-19.75</c:v>
                </c:pt>
                <c:pt idx="21">
                  <c:v>-17.69</c:v>
                </c:pt>
                <c:pt idx="22">
                  <c:v>-15.62</c:v>
                </c:pt>
                <c:pt idx="23">
                  <c:v>-13.56</c:v>
                </c:pt>
                <c:pt idx="24">
                  <c:v>-11.5</c:v>
                </c:pt>
                <c:pt idx="25">
                  <c:v>-9.44</c:v>
                </c:pt>
                <c:pt idx="26">
                  <c:v>-7.38</c:v>
                </c:pt>
                <c:pt idx="27">
                  <c:v>-5.31</c:v>
                </c:pt>
                <c:pt idx="28">
                  <c:v>-3.25</c:v>
                </c:pt>
                <c:pt idx="29">
                  <c:v>-1.19</c:v>
                </c:pt>
                <c:pt idx="30">
                  <c:v>0.87</c:v>
                </c:pt>
                <c:pt idx="31">
                  <c:v>2.93</c:v>
                </c:pt>
                <c:pt idx="32">
                  <c:v>5</c:v>
                </c:pt>
                <c:pt idx="33">
                  <c:v>7.06</c:v>
                </c:pt>
                <c:pt idx="34">
                  <c:v>9.12</c:v>
                </c:pt>
                <c:pt idx="35">
                  <c:v>11.18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База + 4,2% отдачи коммуникаций</c:v>
                </c:pt>
              </c:strCache>
            </c:strRef>
          </c:tx>
          <c:spPr>
            <a:solidFill>
              <a:srgbClr val="E0A100"/>
            </a:solidFill>
            <a:ln w="31750" cap="flat">
              <a:solidFill>
                <a:srgbClr val="E0A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A100"/>
              </a:solidFill>
              <a:ln w="9525" cap="flat">
                <a:solidFill>
                  <a:srgbClr val="E0A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</c:lvl>
              </c:multiLvlStrCache>
            </c:multiLvlStrRef>
          </c:cat>
          <c:val>
            <c:numRef>
              <c:f>Sheet1!$D$2:$D$37</c:f>
              <c:numCache>
                <c:formatCode>General</c:formatCode>
                <c:ptCount val="36"/>
                <c:pt idx="0">
                  <c:v>-5.05</c:v>
                </c:pt>
                <c:pt idx="1">
                  <c:v>-8.91</c:v>
                </c:pt>
                <c:pt idx="2">
                  <c:v>-12.77</c:v>
                </c:pt>
                <c:pt idx="3">
                  <c:v>-16.63</c:v>
                </c:pt>
                <c:pt idx="4">
                  <c:v>-20.49</c:v>
                </c:pt>
                <c:pt idx="5">
                  <c:v>-24.35</c:v>
                </c:pt>
                <c:pt idx="6">
                  <c:v>-27.94</c:v>
                </c:pt>
                <c:pt idx="7">
                  <c:v>-31.25</c:v>
                </c:pt>
                <c:pt idx="8">
                  <c:v>-33.83</c:v>
                </c:pt>
                <c:pt idx="9">
                  <c:v>-35.68</c:v>
                </c:pt>
                <c:pt idx="10">
                  <c:v>-36.8</c:v>
                </c:pt>
                <c:pt idx="11">
                  <c:v>-34.78</c:v>
                </c:pt>
                <c:pt idx="12">
                  <c:v>-32.31</c:v>
                </c:pt>
                <c:pt idx="13">
                  <c:v>-29.37</c:v>
                </c:pt>
                <c:pt idx="14">
                  <c:v>-26.43</c:v>
                </c:pt>
                <c:pt idx="15">
                  <c:v>-23.5</c:v>
                </c:pt>
                <c:pt idx="16">
                  <c:v>-20.56</c:v>
                </c:pt>
                <c:pt idx="17">
                  <c:v>-17.62</c:v>
                </c:pt>
                <c:pt idx="18">
                  <c:v>-14.69</c:v>
                </c:pt>
                <c:pt idx="19">
                  <c:v>-11.75</c:v>
                </c:pt>
                <c:pt idx="20">
                  <c:v>-8.81</c:v>
                </c:pt>
                <c:pt idx="21">
                  <c:v>-5.87</c:v>
                </c:pt>
                <c:pt idx="22">
                  <c:v>-2.94</c:v>
                </c:pt>
                <c:pt idx="23">
                  <c:v>0</c:v>
                </c:pt>
                <c:pt idx="24">
                  <c:v>2.94</c:v>
                </c:pt>
                <c:pt idx="25">
                  <c:v>5.87</c:v>
                </c:pt>
                <c:pt idx="26">
                  <c:v>8.81</c:v>
                </c:pt>
                <c:pt idx="27">
                  <c:v>11.75</c:v>
                </c:pt>
                <c:pt idx="28">
                  <c:v>14.69</c:v>
                </c:pt>
                <c:pt idx="29">
                  <c:v>17.62</c:v>
                </c:pt>
                <c:pt idx="30">
                  <c:v>20.56</c:v>
                </c:pt>
                <c:pt idx="31">
                  <c:v>23.5</c:v>
                </c:pt>
                <c:pt idx="32">
                  <c:v>26.43</c:v>
                </c:pt>
                <c:pt idx="33">
                  <c:v>29.37</c:v>
                </c:pt>
                <c:pt idx="34">
                  <c:v>32.31</c:v>
                </c:pt>
                <c:pt idx="35">
                  <c:v>35.24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Оптимистичный: только FTE</c:v>
                </c:pt>
              </c:strCache>
            </c:strRef>
          </c:tx>
          <c:spPr>
            <a:solidFill>
              <a:srgbClr val="9CA3AF"/>
            </a:solidFill>
            <a:ln w="31750" cap="flat">
              <a:solidFill>
                <a:srgbClr val="9CA3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</c:lvl>
              </c:multiLvlStrCache>
            </c:multiLvlStrRef>
          </c:cat>
          <c:val>
            <c:numRef>
              <c:f>Sheet1!$E$2:$E$37</c:f>
              <c:numCache>
                <c:formatCode>General</c:formatCode>
                <c:ptCount val="36"/>
                <c:pt idx="0">
                  <c:v>-3.7</c:v>
                </c:pt>
                <c:pt idx="1">
                  <c:v>-6.8</c:v>
                </c:pt>
                <c:pt idx="2">
                  <c:v>-9.91</c:v>
                </c:pt>
                <c:pt idx="3">
                  <c:v>-13.01</c:v>
                </c:pt>
                <c:pt idx="4">
                  <c:v>-16.11</c:v>
                </c:pt>
                <c:pt idx="5">
                  <c:v>-19.22</c:v>
                </c:pt>
                <c:pt idx="6">
                  <c:v>-22.32</c:v>
                </c:pt>
                <c:pt idx="7">
                  <c:v>-24.54</c:v>
                </c:pt>
                <c:pt idx="8">
                  <c:v>-25.87</c:v>
                </c:pt>
                <c:pt idx="9">
                  <c:v>-24.07</c:v>
                </c:pt>
                <c:pt idx="10">
                  <c:v>-21.38</c:v>
                </c:pt>
                <c:pt idx="11">
                  <c:v>-18.69</c:v>
                </c:pt>
                <c:pt idx="12">
                  <c:v>-16</c:v>
                </c:pt>
                <c:pt idx="13">
                  <c:v>-13.31</c:v>
                </c:pt>
                <c:pt idx="14">
                  <c:v>-10.61</c:v>
                </c:pt>
                <c:pt idx="15">
                  <c:v>-7.92</c:v>
                </c:pt>
                <c:pt idx="16">
                  <c:v>-5.23</c:v>
                </c:pt>
                <c:pt idx="17">
                  <c:v>-2.54</c:v>
                </c:pt>
                <c:pt idx="18">
                  <c:v>0.15</c:v>
                </c:pt>
                <c:pt idx="19">
                  <c:v>2.84</c:v>
                </c:pt>
                <c:pt idx="20">
                  <c:v>5.53</c:v>
                </c:pt>
                <c:pt idx="21">
                  <c:v>8.23</c:v>
                </c:pt>
                <c:pt idx="22">
                  <c:v>10.92</c:v>
                </c:pt>
                <c:pt idx="23">
                  <c:v>13.61</c:v>
                </c:pt>
                <c:pt idx="24">
                  <c:v>16.3</c:v>
                </c:pt>
                <c:pt idx="25">
                  <c:v>18.99</c:v>
                </c:pt>
                <c:pt idx="26">
                  <c:v>21.68</c:v>
                </c:pt>
                <c:pt idx="27">
                  <c:v>24.37</c:v>
                </c:pt>
                <c:pt idx="28">
                  <c:v>27.07</c:v>
                </c:pt>
                <c:pt idx="29">
                  <c:v>29.76</c:v>
                </c:pt>
                <c:pt idx="30">
                  <c:v>32.45</c:v>
                </c:pt>
                <c:pt idx="31">
                  <c:v>35.14</c:v>
                </c:pt>
                <c:pt idx="32">
                  <c:v>37.83</c:v>
                </c:pt>
                <c:pt idx="33">
                  <c:v>40.52</c:v>
                </c:pt>
                <c:pt idx="34">
                  <c:v>43.22</c:v>
                </c:pt>
                <c:pt idx="35">
                  <c:v>45.91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472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472"/>
                    </a:solidFill>
                    <a:latin typeface="+mn-lt"/>
                  </a:rPr>
                  <a:t>месяц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6"/>
      </c:catAx>
      <c:valAx>
        <c:axId val="2094734552"/>
        <c:scaling>
          <c:orientation val="minMax"/>
          <c:max val="50"/>
          <c:min val="-45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472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472"/>
                    </a:solidFill>
                    <a:latin typeface="+mn-lt"/>
                  </a:rPr>
                  <a:t>накопленный итог, млн ₽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1E2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цифры решения: срок запуска, высвобождение людей, цена пилота. Все расчёты — в репозитории, модель model/economics.py.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тезис. Порядок целей: безопасность — жёсткое ограничение, качество — пол, скорость — то, что максимизируем, FTE — следствие. Падение эффекта кампаний на 10% стоит не меньше 4 млн ₽ в месяц, больше всей экономии FTE.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BPMN «как есть»: шесть дорожек ролей. Сегмент идёт параллельно шагам 4–6, поэтому критический путь 2 + 1 + 2 + 1 + 3 = 9 дней. Аналитик занят не больше 13% календарного срока своих этапов.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Команда запуска 8,4 млн ₽ в месяц, коммуникации 40 млн ₽. На кампанию 70 тыс. ₽ работы против 333 тыс. ₽ контактов. Поэтому главный денежный рычаг — выбор канала и отсечка клиентов без прироста.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BPMN «как станет»: три дорожки. Цепочка передач превратилась в цикл «агент → судья → агент». Срок до отправки по классам: К0 и К1 — 1 день, К2 — 2, К3 — 3,5. Взвешенно 1,9 дня на старте и 1,5 через 6 месяцев.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Противоречие условий снято так: человек заранее утверждает политику К0 и может остановить её одной кнопкой, всё вне политики утверждается по кампании. Сейчас сверка и согласование стоят ~2,5 человеко-часа на кампанию, ~15 часов в день.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 компонента определяется вопросом: можно ли проверить результат однозначно. Отправку, бронь и запись в каталог делает оркестратор по правилу. Источники: тарифы Yandex AI Studio как прокси цены токена; T-Pro 2.0 (3DNews, 18.07.2025) как кандидат в модель агента.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Модель-судья не видит рассуждений агента и его задания, сверяет только итоговый текст с каталогом и гайдом. Три прогона дают уверенность. Две неудачные проверки подряд переводят кампанию в К3. Любая смена версии судьи проходит регресс и канарейку.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Метрики агента сравниваем с плечом «люди» за тот же период. В пилоте любой случай красной линии или срабатывание отката останавливает весь К0 и отправки агента до разбора.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Реестр из 12 рисков — в docs/05-risks.md. Ошибку в каталоге или витрине судья не поймает, потому что сверяется именно с ними. Против каждого риска, кроме регламента, работает мера в коде.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Прирост заказов в рубли не переводим: нет среднего чека. Поэтому окупаемость считаем на FTE и каналах, а качество показываем порогом. 10% лучшего таргетинга в базовой линии оценены в 4 млн ₽ в месяц, так что порог 1,7 млн ₽ в месяц реалистичен, но в окупаемость не заложен.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Доказываем «не хуже» (non-inferiority): δ = 6 п.п., σ ≈ 15 п.п. дают 78 кампаний на плечо при α = 5% и мощности 80%; в м4–м6 у агента 80 кампаний и столько же у людей. 6 п.п. — статистический гейт, а не допустимая потеря: меньшую деградацию ловят клиентские сравнения «лоб в лоб» и стоп-пороги. +4,2% по кампаниям не измерить (это ~0,8 п.п. при разбросе 15 п.п.), поэтому меряем на уровне клиентов и по расходу. Кампаний хватает только при расширении до 7 сервисов: ~8,6 кампании в месяц на сервис.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1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24028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AI-маркетолог для Города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AI-маркетолог для Города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2402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Агент ведёт кампанию от гипотезы до разбора итогов. Человек утверждает правила выпуска и решения об отправке</a:t>
            </a:r>
            <a:endParaRPr lang="en-US" sz="2000" dirty="0"/>
          </a:p>
        </p:txBody>
      </p:sp>
      <p:sp>
        <p:nvSpPr>
          <p:cNvPr id="4" name="stat0"/>
          <p:cNvSpPr/>
          <p:nvPr/>
        </p:nvSpPr>
        <p:spPr>
          <a:xfrm>
            <a:off x="548640" y="379476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A2E3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402336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9 → 1,9 дня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754880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до готовности к отправке на старте отправок, 1,5 дня через 6 месяцев</a:t>
            </a:r>
            <a:endParaRPr lang="en-US" sz="1400" dirty="0"/>
          </a:p>
        </p:txBody>
      </p:sp>
      <p:sp>
        <p:nvSpPr>
          <p:cNvPr id="7" name="stat1"/>
          <p:cNvSpPr/>
          <p:nvPr/>
        </p:nvSpPr>
        <p:spPr>
          <a:xfrm>
            <a:off x="4368698" y="379476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A2E3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43018" y="402336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7,9 из 24 FTE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643018" y="4754880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высвобождается в базовом сценарии, 2,8 млн ₽ в месяц</a:t>
            </a:r>
            <a:endParaRPr lang="en-US" sz="1400" dirty="0"/>
          </a:p>
        </p:txBody>
      </p:sp>
      <p:sp>
        <p:nvSpPr>
          <p:cNvPr id="10" name="stat2"/>
          <p:cNvSpPr/>
          <p:nvPr/>
        </p:nvSpPr>
        <p:spPr>
          <a:xfrm>
            <a:off x="8188757" y="379476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A2E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63077" y="4023360"/>
            <a:ext cx="2905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24,4 млн ₽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463077" y="4754880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пилот на 6 месяцев: 5 человек по условиям и интеграционный бэкенд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Бизнес-кейс программы Мини-СЕО · октябрь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Экономия на людях покрывает только эксплуатацию, систему окупит отдача коммуникаций, и пилот проверяет именно её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39903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Скорость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746504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Подготовку агент делает за день. До готовности к отправке 9 → 1,9 дня на старте отправок и 1,5 через 6 месяцев, разбор итогов 5 → 1 день.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58775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Безопасность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935224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Красные линии ловит код: условия только из каталога, контактная политика и отказы от рекламы проверяются при сборке и в момент отправки.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77647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Люди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4123944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После тиража высвобождаются 7,9 FTE из 24 (2,8 млн ₽ в месяц). Эксплуатация системы стоит 1,5 млн ₽ в месяц.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96519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Деньги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5312664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Пилот 24,4 млн ₽. На одних FTE за 36 месяцев итог −10,8 млн ₽. Окупаемость к 24-му месяцу требует +4,2% к отдаче коммуникаций (1,7 млн ₽ в месяц): это главная гипотеза пилота.</a:t>
            </a:r>
            <a:endParaRPr lang="en-US" sz="1400" dirty="0"/>
          </a:p>
        </p:txBody>
      </p:sp>
      <p:sp>
        <p:nvSpPr>
          <p:cNvPr id="20" name="ask"/>
          <p:cNvSpPr/>
          <p:nvPr/>
        </p:nvSpPr>
        <p:spPr>
          <a:xfrm>
            <a:off x="7680960" y="1417320"/>
            <a:ext cx="3962095" cy="4754880"/>
          </a:xfrm>
          <a:prstGeom prst="roundRect">
            <a:avLst>
              <a:gd name="adj" fmla="val 1846"/>
            </a:avLst>
          </a:prstGeom>
          <a:solidFill>
            <a:schemeClr val="tx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001000" y="1645920"/>
            <a:ext cx="332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Что просим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001000" y="2148840"/>
            <a:ext cx="33220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Пилот на 6 месяцев за 24,4 млн ₽: 5 человек по условиям и интеграционный бэкенд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Стоп всех отправок агента при первой критической ошибке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Тираж, только если агент не хуже людей и отдача коммуникаций выросла на 4,2%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Решение о тираже по итогам пилота: с тиражом пик вложений 41 млн ₽ на 11-м месяце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001000" y="5349240"/>
            <a:ext cx="3322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Порядок целей: безопасность — жёсткое ограничение, качество — пол, скорость — цель, FTE — следствие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9 дней запуска уходят на очереди между шестью ролями, работы в кампании всего 4,2 человеко-дня</a:t>
            </a:r>
            <a:endParaRPr lang="en-US" sz="2600" dirty="0"/>
          </a:p>
        </p:txBody>
      </p:sp>
      <p:pic>
        <p:nvPicPr>
          <p:cNvPr id="4" name="Image 0" descr="BPMN-схема процесса как ест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8138160" cy="304601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006840" y="1371600"/>
            <a:ext cx="2636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4,2 чел.-дня</a:t>
            </a:r>
            <a:endParaRPr lang="en-US" sz="2400" dirty="0"/>
          </a:p>
        </p:txBody>
      </p:sp>
      <p:sp>
        <p:nvSpPr>
          <p:cNvPr id="6" name="Text 2"/>
          <p:cNvSpPr txBox="1"/>
          <p:nvPr/>
        </p:nvSpPr>
        <p:spPr>
          <a:xfrm>
            <a:off x="9006840" y="1783080"/>
            <a:ext cx="2636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работы на кампанию при 9 днях срока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9006840" y="2395728"/>
            <a:ext cx="2636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≤ 13%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9006840" y="2807208"/>
            <a:ext cx="2636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срока своих этапов аналитик реально работает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006840" y="3419856"/>
            <a:ext cx="2636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~22 в год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9006840" y="3831336"/>
            <a:ext cx="2636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кампании с ошибкой у клиентов (1,5%), ещё 8% возвращаются до запуска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Критический путь до запуска, рабочие дни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892040"/>
            <a:ext cx="2428850" cy="548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40080" y="4892040"/>
            <a:ext cx="22825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Анализ · 2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014066" y="4892040"/>
            <a:ext cx="1196137" cy="548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105506" y="4892040"/>
            <a:ext cx="10498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Условия · 1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246778" y="4892040"/>
            <a:ext cx="2428850" cy="548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338218" y="4892040"/>
            <a:ext cx="22825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Креативы · 2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712204" y="4892040"/>
            <a:ext cx="1196137" cy="548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803644" y="4892040"/>
            <a:ext cx="10498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Сверка · 1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7944917" y="4892040"/>
            <a:ext cx="3661562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8036357" y="489204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Настройка и запуск · 3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55778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Сегмент (1 день) идёт параллельно шагам 4–6, гипотеза — до начала отсчёта. Полный цикл: гипотеза + 9 дней + работа кампании + 5 дней разбора итогов. Схема в полном размере — diagrams/asis.png в репозитории.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83% расходов на кампании — коммуникации: улучшение таргетинга на 10% даёт 4 млн ₽ в месяц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4572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0"/>
          <p:cNvSpPr/>
          <p:nvPr/>
        </p:nvSpPr>
        <p:spPr>
          <a:xfrm>
            <a:off x="5577840" y="1371600"/>
            <a:ext cx="6065215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5852160" y="1536192"/>
            <a:ext cx="5516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в 4,8 раза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5852160" y="1938528"/>
            <a:ext cx="5516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дороже коммуникации, чем работа команды: 333 тыс. ₽ против 70 тыс. ₽ на кампанию</a:t>
            </a:r>
            <a:endParaRPr lang="en-US" sz="1300" dirty="0"/>
          </a:p>
        </p:txBody>
      </p:sp>
      <p:sp>
        <p:nvSpPr>
          <p:cNvPr id="8" name="card1"/>
          <p:cNvSpPr/>
          <p:nvPr/>
        </p:nvSpPr>
        <p:spPr>
          <a:xfrm>
            <a:off x="5577840" y="2743200"/>
            <a:ext cx="6065215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852160" y="2907792"/>
            <a:ext cx="5516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4,4 млн SMS или 400 млн push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5852160" y="3310128"/>
            <a:ext cx="5516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столько покупает бюджет 40 млн ₽ в месяц. Выбор канала — главный денежный рычаг агента</a:t>
            </a:r>
            <a:endParaRPr lang="en-US" sz="1300" dirty="0"/>
          </a:p>
        </p:txBody>
      </p:sp>
      <p:sp>
        <p:nvSpPr>
          <p:cNvPr id="11" name="card2"/>
          <p:cNvSpPr/>
          <p:nvPr/>
        </p:nvSpPr>
        <p:spPr>
          <a:xfrm>
            <a:off x="5577840" y="4114800"/>
            <a:ext cx="6065215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852160" y="4279392"/>
            <a:ext cx="5516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28 кампаний на 4 слота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5852160" y="4681728"/>
            <a:ext cx="5516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в неделю на одного клиента: сервисы конкурируют за контакт, нужен общий планировщик контактов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577840" y="5623560"/>
            <a:ext cx="6065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Вывод для дизайна: </a:t>
            </a:r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падение эффекта кампаний на 10% стоит дороже всей экономии FTE, поэтому качество держим как ограничение.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Подготовку кампании агент делает за день, человек остаётся в двух точках: новые условия и решение об отправке</a:t>
            </a:r>
            <a:endParaRPr lang="en-US" sz="2600" dirty="0"/>
          </a:p>
        </p:txBody>
      </p:sp>
      <p:pic>
        <p:nvPicPr>
          <p:cNvPr id="4" name="Image 0" descr="BPMN-схема процесса как стане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4415" cy="2323438"/>
          </a:xfrm>
          <a:prstGeom prst="rect">
            <a:avLst/>
          </a:prstGeom>
        </p:spPr>
      </p:pic>
      <p:sp>
        <p:nvSpPr>
          <p:cNvPr id="5" name="step0"/>
          <p:cNvSpPr/>
          <p:nvPr/>
        </p:nvSpPr>
        <p:spPr>
          <a:xfrm>
            <a:off x="548640" y="3840480"/>
            <a:ext cx="1290790" cy="1417320"/>
          </a:xfrm>
          <a:prstGeom prst="roundRect">
            <a:avLst>
              <a:gd name="adj" fmla="val 5667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658368" y="3931920"/>
            <a:ext cx="10713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1. Гипотеза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658368" y="4407408"/>
            <a:ext cx="1071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trike="sngStrike" dirty="0">
                <a:solidFill>
                  <a:schemeClr val="tx2"/>
                </a:solidFill>
              </a:rPr>
              <a:t>от 1 дня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58368" y="4690872"/>
            <a:ext cx="10713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минуты</a:t>
            </a:r>
            <a:endParaRPr lang="en-US" sz="1400" dirty="0"/>
          </a:p>
        </p:txBody>
      </p:sp>
      <p:sp>
        <p:nvSpPr>
          <p:cNvPr id="9" name="step1"/>
          <p:cNvSpPr/>
          <p:nvPr/>
        </p:nvSpPr>
        <p:spPr>
          <a:xfrm>
            <a:off x="1949158" y="3840480"/>
            <a:ext cx="1290790" cy="1417320"/>
          </a:xfrm>
          <a:prstGeom prst="roundRect">
            <a:avLst>
              <a:gd name="adj" fmla="val 5667"/>
            </a:avLst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2058886" y="3931920"/>
            <a:ext cx="10713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2. Анализ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2058886" y="4407408"/>
            <a:ext cx="1071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trike="sngStrike" dirty="0">
                <a:solidFill>
                  <a:schemeClr val="tx2"/>
                </a:solidFill>
              </a:rPr>
              <a:t>2 дня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058886" y="4690872"/>
            <a:ext cx="10713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2–3 часа</a:t>
            </a:r>
            <a:endParaRPr lang="en-US" sz="1400" dirty="0"/>
          </a:p>
        </p:txBody>
      </p:sp>
      <p:sp>
        <p:nvSpPr>
          <p:cNvPr id="13" name="step2"/>
          <p:cNvSpPr/>
          <p:nvPr/>
        </p:nvSpPr>
        <p:spPr>
          <a:xfrm>
            <a:off x="3349676" y="3840480"/>
            <a:ext cx="1290790" cy="1417320"/>
          </a:xfrm>
          <a:prstGeom prst="roundRect">
            <a:avLst>
              <a:gd name="adj" fmla="val 5667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3459404" y="3931920"/>
            <a:ext cx="10713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3. Сегмент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459404" y="4407408"/>
            <a:ext cx="1071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trike="sngStrike" dirty="0">
                <a:solidFill>
                  <a:schemeClr val="tx2"/>
                </a:solidFill>
              </a:rPr>
              <a:t>1 день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459404" y="4690872"/>
            <a:ext cx="10713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минуты</a:t>
            </a:r>
            <a:endParaRPr lang="en-US" sz="1400" dirty="0"/>
          </a:p>
        </p:txBody>
      </p:sp>
      <p:sp>
        <p:nvSpPr>
          <p:cNvPr id="17" name="step3"/>
          <p:cNvSpPr/>
          <p:nvPr/>
        </p:nvSpPr>
        <p:spPr>
          <a:xfrm>
            <a:off x="4750194" y="3840480"/>
            <a:ext cx="1290790" cy="1417320"/>
          </a:xfrm>
          <a:prstGeom prst="roundRect">
            <a:avLst>
              <a:gd name="adj" fmla="val 5667"/>
            </a:avLst>
          </a:prstGeom>
          <a:solidFill>
            <a:schemeClr val="bg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859922" y="3931920"/>
            <a:ext cx="10713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4. Условия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859922" y="4407408"/>
            <a:ext cx="1071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trike="sngStrike" dirty="0">
                <a:solidFill>
                  <a:schemeClr val="tx2"/>
                </a:solidFill>
              </a:rPr>
              <a:t>1–2 дня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4859922" y="4690872"/>
            <a:ext cx="10713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&lt; 1 часа</a:t>
            </a:r>
            <a:endParaRPr lang="en-US" sz="1400" dirty="0"/>
          </a:p>
        </p:txBody>
      </p:sp>
      <p:sp>
        <p:nvSpPr>
          <p:cNvPr id="21" name="step4"/>
          <p:cNvSpPr/>
          <p:nvPr/>
        </p:nvSpPr>
        <p:spPr>
          <a:xfrm>
            <a:off x="6150712" y="3840480"/>
            <a:ext cx="1290790" cy="1417320"/>
          </a:xfrm>
          <a:prstGeom prst="roundRect">
            <a:avLst>
              <a:gd name="adj" fmla="val 5667"/>
            </a:avLst>
          </a:prstGeom>
          <a:solidFill>
            <a:schemeClr val="bg2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260440" y="3931920"/>
            <a:ext cx="10713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5. Креативы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6260440" y="4407408"/>
            <a:ext cx="1071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trike="sngStrike" dirty="0">
                <a:solidFill>
                  <a:schemeClr val="tx2"/>
                </a:solidFill>
              </a:rPr>
              <a:t>2 дня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6260440" y="4690872"/>
            <a:ext cx="10713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1–2 часа</a:t>
            </a:r>
            <a:endParaRPr lang="en-US" sz="1400" dirty="0"/>
          </a:p>
        </p:txBody>
      </p:sp>
      <p:sp>
        <p:nvSpPr>
          <p:cNvPr id="25" name="step5"/>
          <p:cNvSpPr/>
          <p:nvPr/>
        </p:nvSpPr>
        <p:spPr>
          <a:xfrm>
            <a:off x="7551230" y="3840480"/>
            <a:ext cx="1290790" cy="1417320"/>
          </a:xfrm>
          <a:prstGeom prst="roundRect">
            <a:avLst>
              <a:gd name="adj" fmla="val 5667"/>
            </a:avLst>
          </a:prstGeom>
          <a:solidFill>
            <a:schemeClr val="bg2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660957" y="3931920"/>
            <a:ext cx="10713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6. Проверка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7660957" y="4407408"/>
            <a:ext cx="1071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trike="sngStrike" dirty="0">
                <a:solidFill>
                  <a:schemeClr val="tx2"/>
                </a:solidFill>
              </a:rPr>
              <a:t>1 день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7660957" y="4690872"/>
            <a:ext cx="10713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минуты + решение</a:t>
            </a:r>
            <a:endParaRPr lang="en-US" sz="1400" dirty="0"/>
          </a:p>
        </p:txBody>
      </p:sp>
      <p:sp>
        <p:nvSpPr>
          <p:cNvPr id="29" name="step6"/>
          <p:cNvSpPr/>
          <p:nvPr/>
        </p:nvSpPr>
        <p:spPr>
          <a:xfrm>
            <a:off x="8951747" y="3840480"/>
            <a:ext cx="1290790" cy="1417320"/>
          </a:xfrm>
          <a:prstGeom prst="roundRect">
            <a:avLst>
              <a:gd name="adj" fmla="val 5667"/>
            </a:avLst>
          </a:prstGeom>
          <a:solidFill>
            <a:schemeClr val="bg2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9061475" y="3931920"/>
            <a:ext cx="10713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7. Запуск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9061475" y="4407408"/>
            <a:ext cx="1071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trike="sngStrike" dirty="0">
                <a:solidFill>
                  <a:schemeClr val="tx2"/>
                </a:solidFill>
              </a:rPr>
              <a:t>3 дня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9061475" y="4690872"/>
            <a:ext cx="10713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≤ 1 дня</a:t>
            </a:r>
            <a:endParaRPr lang="en-US" sz="1400" dirty="0"/>
          </a:p>
        </p:txBody>
      </p:sp>
      <p:sp>
        <p:nvSpPr>
          <p:cNvPr id="33" name="step7"/>
          <p:cNvSpPr/>
          <p:nvPr/>
        </p:nvSpPr>
        <p:spPr>
          <a:xfrm>
            <a:off x="10352265" y="3840480"/>
            <a:ext cx="1290790" cy="1417320"/>
          </a:xfrm>
          <a:prstGeom prst="roundRect">
            <a:avLst>
              <a:gd name="adj" fmla="val 5667"/>
            </a:avLst>
          </a:prstGeom>
          <a:solidFill>
            <a:schemeClr val="bg2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10461993" y="3931920"/>
            <a:ext cx="10713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Разбор итогов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10461993" y="4407408"/>
            <a:ext cx="1071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trike="sngStrike" dirty="0">
                <a:solidFill>
                  <a:schemeClr val="tx2"/>
                </a:solidFill>
              </a:rPr>
              <a:t>5 дней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10461993" y="4690872"/>
            <a:ext cx="10713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 день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548640" y="5349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Срок до готовности по классу: </a:t>
            </a:r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К0 и К1 — 1 день, К2 — 2, К3 — 3,5, в среднем 1,9 → 1,5 дня. Дату отправки задаёт планировщик контактов.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548640" y="5669280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Маркетолог: </a:t>
            </a:r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цели сервиса, партнёры, каталог условий, решения К1–К3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4338218" y="5669280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Аналитик: </a:t>
            </a:r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методика, модели прогноза, правила планировщика контактов</a:t>
            </a:r>
            <a:endParaRPr lang="en-US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8127797" y="5669280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Редакция: </a:t>
            </a:r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гайд тона, шаблоны, эталоны и разметка для судьи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Человек утверждает правило и карточки: 74 минуты в день на старте, 41 через полгода против ~15 часов сверки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7665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240280"/>
                <a:gridCol w="777240"/>
                <a:gridCol w="777240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Класс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Кто утверждает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Время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SLA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Доля: старт → 6 мес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К0 по политике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никто по кампании, аудит 10% после отправки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0,5 мин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0% → 40%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К1 известное в новой комбинации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маркетолог, пакетно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 мин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≤ 4 ч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45% → 30%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К2 новое по форме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+ редактор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 мин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 день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35% → 20%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К3 новое по сути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+ юрист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 мин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2–3 дня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20% → 10%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Минут команды в день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74 → 41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7548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Граница сдвигается по шаблону. </a:t>
            </a:r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Повышение медленное: ≥ 5 запусков без правок и инцидентов → допуск в К0. Откат мгновенный: первый инцидент или новая версия модели возвращают шаблон в К1.</a:t>
            </a:r>
            <a:endParaRPr lang="en-US" sz="1300" dirty="0"/>
          </a:p>
        </p:txBody>
      </p:sp>
      <p:sp>
        <p:nvSpPr>
          <p:cNvPr id="6" name="k0rule"/>
          <p:cNvSpPr/>
          <p:nvPr/>
        </p:nvSpPr>
        <p:spPr>
          <a:xfrm>
            <a:off x="7680960" y="1417320"/>
            <a:ext cx="3962095" cy="4754880"/>
          </a:xfrm>
          <a:prstGeom prst="roundRect">
            <a:avLst>
              <a:gd name="adj" fmla="val 1846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955280" y="1600200"/>
            <a:ext cx="3413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Правило К0: кампания выходит без утверждения, только если выполнены все 8 условий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955280" y="2377440"/>
            <a:ext cx="341345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Условия из каталога, параметры в лимитах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Проверенный шаблон, меняются только переменные поля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Только push, in‑app, e‑mail, без SMS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≤ 300 тыс. клиентов, ≤ 100 тыс. ₽, лимит К0 4 млн ₽ в месяц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Судья: всё пройдено, нет флагов «не уверен»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Прогноз эффекта в коридоре аналогов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Слоты забронированы без вытеснения других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Сервис не чувствительный, теневой режим пройден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Код проверяет, ML прогнозирует, LLM пишет текст: у языковой модели нет кнопки «отправить»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EDD5"/>
          </a:solidFill>
          <a:ln w="15875">
            <a:solidFill>
              <a:srgbClr val="C2410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344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LLM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34440" y="13716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08760" y="1344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828800" y="13716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103120" y="1344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Правила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880360" y="13716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DE9FE"/>
          </a:solidFill>
          <a:ln w="15875">
            <a:solidFill>
              <a:srgbClr val="6D28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54680" y="1344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Человек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931920" y="13716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3F4F6"/>
          </a:solidFill>
          <a:ln w="15875">
            <a:solidFill>
              <a:srgbClr val="4B556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06240" y="1344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Данные и сервисы</a:t>
            </a:r>
            <a:endParaRPr lang="en-US" sz="1200" dirty="0"/>
          </a:p>
        </p:txBody>
      </p:sp>
      <p:pic>
        <p:nvPicPr>
          <p:cNvPr id="14" name="Image 0" descr="Архитектура AI-маркетолог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7955280" cy="338099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823960" y="1371600"/>
            <a:ext cx="2819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803D"/>
                </a:solidFill>
              </a:rPr>
              <a:t>Правила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8823960" y="1700784"/>
            <a:ext cx="2819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всё, что проверяется однозначно: каталог, контактная политика, бюджет, класс риска, отправка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823960" y="2578608"/>
            <a:ext cx="2819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ML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8823960" y="2907792"/>
            <a:ext cx="2819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числа по истории: отклик, прирост к контролю, выбор канала, аномалии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8823960" y="3785616"/>
            <a:ext cx="2819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2410C"/>
                </a:solidFill>
              </a:rPr>
              <a:t>LLM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8823960" y="4114800"/>
            <a:ext cx="2819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язык: гипотезы из идей, креативы, извлечение обещаний, тон. Персональных данных не видит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5349240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~0,5 тыс. ₽  </a:t>
            </a:r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инференс на кампанию (~0,59 млн токенов)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4338218" y="5349240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~89%  </a:t>
            </a:r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стоимости пилота — команда, инференс &lt; 1%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8127797" y="5349240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6 месяцев  </a:t>
            </a:r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хватит, если CDP, платформа рассылок, LLM- и ML-платформы переиспользуются (PA-1)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Цена токена: тарифы Yandex AI Studio, октябрь 2026, как прокси трансфертной цены. Модель агента — например, T-Pro 2.0 (3DNews, 18.07.2025); модель судьи — другого семейства.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Красные линии ловит код, тон оценивает модель другого семейства, человек смотрит только кампании выше К0</a:t>
            </a:r>
            <a:endParaRPr lang="en-US" sz="2600" dirty="0"/>
          </a:p>
        </p:txBody>
      </p:sp>
      <p:pic>
        <p:nvPicPr>
          <p:cNvPr id="4" name="Image 0" descr="Логика судь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528" y="1325880"/>
            <a:ext cx="9692640" cy="339242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800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Судью допускаем к работе, если на эталонном наборе (~500 текстов из истории и ~150 подсаженных ошибок) он показывает:</a:t>
            </a:r>
            <a:endParaRPr lang="en-US" sz="1300" dirty="0"/>
          </a:p>
        </p:txBody>
      </p:sp>
      <p:sp>
        <p:nvSpPr>
          <p:cNvPr id="6" name="gate0"/>
          <p:cNvSpPr/>
          <p:nvPr/>
        </p:nvSpPr>
        <p:spPr>
          <a:xfrm>
            <a:off x="548640" y="5212080"/>
            <a:ext cx="2072579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31520" y="5285232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100%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5696712"/>
            <a:ext cx="17068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критических ошибок слоя 1 поймано</a:t>
            </a:r>
            <a:endParaRPr lang="en-US" sz="1200" dirty="0"/>
          </a:p>
        </p:txBody>
      </p:sp>
      <p:sp>
        <p:nvSpPr>
          <p:cNvPr id="9" name="gate1"/>
          <p:cNvSpPr/>
          <p:nvPr/>
        </p:nvSpPr>
        <p:spPr>
          <a:xfrm>
            <a:off x="2804099" y="5212080"/>
            <a:ext cx="2072579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2986979" y="5285232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≥ 95%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2986979" y="5696712"/>
            <a:ext cx="17068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скрытых обещаний и искажений смысла</a:t>
            </a:r>
            <a:endParaRPr lang="en-US" sz="1200" dirty="0"/>
          </a:p>
        </p:txBody>
      </p:sp>
      <p:sp>
        <p:nvSpPr>
          <p:cNvPr id="12" name="gate2"/>
          <p:cNvSpPr/>
          <p:nvPr/>
        </p:nvSpPr>
        <p:spPr>
          <a:xfrm>
            <a:off x="5059558" y="5212080"/>
            <a:ext cx="2072579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5242438" y="5285232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≤ 20% → 10%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5242438" y="5696712"/>
            <a:ext cx="17068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ложных срабатываний, к месяцу 6</a:t>
            </a:r>
            <a:endParaRPr lang="en-US" sz="1200" dirty="0"/>
          </a:p>
        </p:txBody>
      </p:sp>
      <p:sp>
        <p:nvSpPr>
          <p:cNvPr id="15" name="gate3"/>
          <p:cNvSpPr/>
          <p:nvPr/>
        </p:nvSpPr>
        <p:spPr>
          <a:xfrm>
            <a:off x="7315017" y="5212080"/>
            <a:ext cx="2072579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497897" y="5285232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κ ≥ 0,7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7497897" y="5696712"/>
            <a:ext cx="17068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согласие с редакцией по тону</a:t>
            </a:r>
            <a:endParaRPr lang="en-US" sz="1200" dirty="0"/>
          </a:p>
        </p:txBody>
      </p:sp>
      <p:sp>
        <p:nvSpPr>
          <p:cNvPr id="18" name="gate4"/>
          <p:cNvSpPr/>
          <p:nvPr/>
        </p:nvSpPr>
        <p:spPr>
          <a:xfrm>
            <a:off x="9570476" y="5212080"/>
            <a:ext cx="2072579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9753356" y="5285232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≥ 98%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9753356" y="5696712"/>
            <a:ext cx="17068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калибровка «высокой уверенности»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Агента остановит первая же критическая ошибка, а у каждой метрики качества, скорости и экономии есть свой стоп-порог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657600"/>
                <a:gridCol w="1463040"/>
                <a:gridCol w="1828800"/>
                <a:gridCol w="313639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Метрика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Было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Цель пилота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Стоп-порог → действие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47472">
                <a:tc rowSpan="6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Качество</a:t>
                      </a:r>
                      <a:endParaRPr lang="en-US" sz="11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Прирост заказов к своей контрольной группе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20%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не хуже людей больше чем на 6 п.п.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ниже людей &gt; 6 п.п. в окне 30 кампаний → откат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Выдуманные условия, нарушение контактной политики, письмо отказавшемуся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любой случай → красная линия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Некритичные ошибки у клиентов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1,5% всех ошибок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≤ 0,5%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≥ 2 за 30 дней → откат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Тон: доля текстов, прошедших аудит редакции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замер в м1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≥ 95%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&lt; 90% за две недели → откат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Жалобы и отписки на 10 тыс. контактов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замер в м1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не выше людей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&gt; 1,3× людей две недели → откат канала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Инкрементальные заказы на 1 000 ₽ коммуникаций (сравнение «лоб в лоб» по клиентам)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замер в м1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+4,2% к людям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ниже людей на 10% два месяца → откат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Скорость</a:t>
                      </a:r>
                      <a:endParaRPr lang="en-US" sz="11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Срок «гипотеза одобрена → готова к отправке», медиана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 дней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≤ 2 дня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&gt; 3 дней к концу м5 → гейт: тираж не начинаем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Возвраты человеком при утверждении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8% в редакцию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≤ 10%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&gt; 25% → гейт: расширение замораживаем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Экономия</a:t>
                      </a:r>
                      <a:endParaRPr lang="en-US" sz="1100" dirty="0"/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Человеко-дни на кампанию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4,2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≤ 2,5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&gt; 3,0 к концу м6 → FTE-кейс не подтверждён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Инференс на кампанию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≤ 0,5 тыс. ₽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&gt; 5 тыс. ₽ → стоп агента и разбор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Красная линия</a:t>
            </a:r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— немедленный стоп автономии.   </a:t>
            </a:r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Откат</a:t>
            </a:r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— часть кампаний возвращается людям.   </a:t>
            </a:r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Гейт</a:t>
            </a:r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— нет перехода в следующую фазу пилота.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Опаснее всего сбои, которые проходят все проверки: ошибка в каталоге, деградация модели, утверждение «не глядя»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ИЗ УСЛОВИЙ КЕЙСА</a:t>
            </a:r>
            <a:endParaRPr lang="en-US" sz="1100" dirty="0"/>
          </a:p>
        </p:txBody>
      </p:sp>
      <p:sp>
        <p:nvSpPr>
          <p:cNvPr id="5" name="Выдуманные условия"/>
          <p:cNvSpPr/>
          <p:nvPr/>
        </p:nvSpPr>
        <p:spPr>
          <a:xfrm>
            <a:off x="548640" y="1691640"/>
            <a:ext cx="658368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7647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Выдуманные условия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926080" y="17647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условия только из каталога; обещания извлекают шаблоны и модель, сверяет код</a:t>
            </a:r>
            <a:endParaRPr lang="en-US" sz="1200" dirty="0"/>
          </a:p>
        </p:txBody>
      </p:sp>
      <p:sp>
        <p:nvSpPr>
          <p:cNvPr id="8" name="Нарушение контактной политики"/>
          <p:cNvSpPr/>
          <p:nvPr/>
        </p:nvSpPr>
        <p:spPr>
          <a:xfrm>
            <a:off x="548640" y="2404872"/>
            <a:ext cx="658368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47802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Нарушение контактной политики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926080" y="247802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общий планировщик всех сервисов, проверка при брони и в момент отправки</a:t>
            </a:r>
            <a:endParaRPr lang="en-US" sz="1200" dirty="0"/>
          </a:p>
        </p:txBody>
      </p:sp>
      <p:sp>
        <p:nvSpPr>
          <p:cNvPr id="11" name="Сбой тона"/>
          <p:cNvSpPr/>
          <p:nvPr/>
        </p:nvSpPr>
        <p:spPr>
          <a:xfrm>
            <a:off x="548640" y="3118104"/>
            <a:ext cx="658368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319125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Сбой тона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926080" y="319125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стоп-лист в коде, модель-судья с уверенностью, чувствительные темы только в К3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83133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САМЫЕ ОПАСНЫЕ</a:t>
            </a:r>
            <a:endParaRPr lang="en-US" sz="1100" dirty="0"/>
          </a:p>
        </p:txBody>
      </p:sp>
      <p:sp>
        <p:nvSpPr>
          <p:cNvPr id="15" name="Ошибка в самом каталоге"/>
          <p:cNvSpPr/>
          <p:nvPr/>
        </p:nvSpPr>
        <p:spPr>
          <a:xfrm>
            <a:off x="548640" y="4151376"/>
            <a:ext cx="658368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" y="42245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Ошибка в самом каталоге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2926080" y="42245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два ключа (маркетолог и юрист), тестовый заказ, стоп всех кампаний с записью одной командой</a:t>
            </a:r>
            <a:endParaRPr lang="en-US" sz="1200" dirty="0"/>
          </a:p>
        </p:txBody>
      </p:sp>
      <p:sp>
        <p:nvSpPr>
          <p:cNvPr id="18" name="Деградация модели или судьи"/>
          <p:cNvSpPr/>
          <p:nvPr/>
        </p:nvSpPr>
        <p:spPr>
          <a:xfrm>
            <a:off x="548640" y="4864608"/>
            <a:ext cx="658368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4937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Деградация модели или судьи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2926080" y="49377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версии закреплены, регресс и канарейка, слепой аудит 20 текстов в неделю</a:t>
            </a:r>
            <a:endParaRPr lang="en-US" sz="1200" dirty="0"/>
          </a:p>
        </p:txBody>
      </p:sp>
      <p:sp>
        <p:nvSpPr>
          <p:cNvPr id="21" name="Утверждение «не глядя»"/>
          <p:cNvSpPr/>
          <p:nvPr/>
        </p:nvSpPr>
        <p:spPr>
          <a:xfrm>
            <a:off x="548640" y="5577840"/>
            <a:ext cx="658368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31520" y="56509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Утверждение «не глядя»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2926080" y="56509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карточка показывает только отличия; 1–2% контрольных кампаний с ошибкой в очереди</a:t>
            </a:r>
            <a:endParaRPr lang="en-US" sz="1200" dirty="0"/>
          </a:p>
        </p:txBody>
      </p:sp>
      <p:sp>
        <p:nvSpPr>
          <p:cNvPr id="24" name="incident"/>
          <p:cNvSpPr/>
          <p:nvPr/>
        </p:nvSpPr>
        <p:spPr>
          <a:xfrm>
            <a:off x="7498080" y="1371600"/>
            <a:ext cx="4144975" cy="4892040"/>
          </a:xfrm>
          <a:prstGeom prst="roundRect">
            <a:avLst>
              <a:gd name="adj" fmla="val 1765"/>
            </a:avLst>
          </a:prstGeom>
          <a:solidFill>
            <a:schemeClr val="tx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772400" y="1554480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Если ошибка ушла клиентам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0" y="1938528"/>
            <a:ext cx="3596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Крупные кампании уходят волнами: 10% и остаток через 2 часа. Ошибка задевает ≤ 10% сегмента, в К0 — ≤ 30 тыс. клиентов.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0" y="2697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≤ 15 мин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732520" y="2697480"/>
            <a:ext cx="2636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Стоп-кран: волны, in‑app, все кампании с той же записью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0" y="327355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≤ 2 ч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732520" y="3273552"/>
            <a:ext cx="2636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Оценка: кто получил, что обещано, тяжесть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7772400" y="384962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≤ 4 ч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732520" y="3849624"/>
            <a:ext cx="2636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Корректирующее сообщение при ложной выгоде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772400" y="442569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≤ 1 дня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732520" y="4425696"/>
            <a:ext cx="2636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Выполняем обещанное тем, кто успел им воспользоваться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7772400" y="50017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≤ 3 дней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732520" y="5001768"/>
            <a:ext cx="2636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Разбор: какой рубеж пропустил, новое правило в код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7772400" y="5577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сразу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8732520" y="5577840"/>
            <a:ext cx="2636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Откат автономии автоматически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На одних FTE система за 3 года не окупается, окупаемость к 24-му месяцу требует +4,2% к отдаче коммуникаций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25880"/>
          <a:ext cx="73152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osts"/>
          <p:cNvSpPr/>
          <p:nvPr/>
        </p:nvSpPr>
        <p:spPr>
          <a:xfrm>
            <a:off x="8183880" y="1371600"/>
            <a:ext cx="3459175" cy="4800600"/>
          </a:xfrm>
          <a:prstGeom prst="roundRect">
            <a:avLst>
              <a:gd name="adj" fmla="val 2115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458200" y="1508760"/>
            <a:ext cx="2910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Пилот: 24,4 млн ₽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8458200" y="1874520"/>
            <a:ext cx="1721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Команда 6 × 6 мес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0180015" y="1874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21,6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8458200" y="2148840"/>
            <a:ext cx="1721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Инфраструктура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0180015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1,5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458200" y="2423160"/>
            <a:ext cx="1721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Разовые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0180015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1,2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458200" y="2697480"/>
            <a:ext cx="1721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Инференс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0180015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0,06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458200" y="3063240"/>
            <a:ext cx="2910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После тиража, в месяц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8458200" y="3429000"/>
            <a:ext cx="1721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Экономия FTE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0180015" y="3429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+2,8 млн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8458200" y="3703320"/>
            <a:ext cx="1721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Эксплуатация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10180015" y="3703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−1,5 млн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8458200" y="3977640"/>
            <a:ext cx="1721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Чистый эффект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10180015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+1,3 млн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8458200" y="4343400"/>
            <a:ext cx="2910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Окупаемость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8458200" y="4709160"/>
            <a:ext cx="1721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Пик вложений, 11-й мес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10180015" y="4709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−41 млн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8458200" y="4983480"/>
            <a:ext cx="1721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Только FTE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10180015" y="4983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&gt; 36 мес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8458200" y="5257800"/>
            <a:ext cx="1721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FTE + 2% на каналах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10180015" y="5257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31-й мес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8458200" y="5532120"/>
            <a:ext cx="1721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Порог к 24-му месяцу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10180015" y="5532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+4,2%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8458200" y="5806440"/>
            <a:ext cx="1721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Порог к 18-му месяцу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10180015" y="5806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+8,8%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Тираж начинаем, только если пилот подтвердит экономику: агент не хуже людей, отдача коммуникаций +4,2%</a:t>
            </a:r>
            <a:endParaRPr lang="en-US" sz="2600" dirty="0"/>
          </a:p>
        </p:txBody>
      </p:sp>
      <p:sp>
        <p:nvSpPr>
          <p:cNvPr id="4" name="m0"/>
          <p:cNvSpPr/>
          <p:nvPr/>
        </p:nvSpPr>
        <p:spPr>
          <a:xfrm>
            <a:off x="548640" y="1371600"/>
            <a:ext cx="1734769" cy="2514600"/>
          </a:xfrm>
          <a:prstGeom prst="roundRect">
            <a:avLst>
              <a:gd name="adj" fmla="val 4217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М1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536192"/>
            <a:ext cx="9575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без кампаний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03120"/>
            <a:ext cx="14604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Каталог условий, эталоны судьи, замер базы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108960"/>
            <a:ext cx="14604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Гейт: </a:t>
            </a:r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судья проходит эталонный набор</a:t>
            </a:r>
            <a:endParaRPr lang="en-US" sz="1100" dirty="0"/>
          </a:p>
        </p:txBody>
      </p:sp>
      <p:sp>
        <p:nvSpPr>
          <p:cNvPr id="10" name="m1"/>
          <p:cNvSpPr/>
          <p:nvPr/>
        </p:nvSpPr>
        <p:spPr>
          <a:xfrm>
            <a:off x="2420569" y="1371600"/>
            <a:ext cx="1734769" cy="2514600"/>
          </a:xfrm>
          <a:prstGeom prst="roundRect">
            <a:avLst>
              <a:gd name="adj" fmla="val 4217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2557729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557729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М2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106369" y="1536192"/>
            <a:ext cx="9575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 в тени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557729" y="2103120"/>
            <a:ext cx="14604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Тень: агент готовит кампании без отправки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557729" y="3108960"/>
            <a:ext cx="14604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Гейт: </a:t>
            </a:r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не хуже людей в ≥ 70% пар</a:t>
            </a:r>
            <a:endParaRPr lang="en-US" sz="1100" dirty="0"/>
          </a:p>
        </p:txBody>
      </p:sp>
      <p:sp>
        <p:nvSpPr>
          <p:cNvPr id="16" name="m2"/>
          <p:cNvSpPr/>
          <p:nvPr/>
        </p:nvSpPr>
        <p:spPr>
          <a:xfrm>
            <a:off x="4292498" y="1371600"/>
            <a:ext cx="1734769" cy="2514600"/>
          </a:xfrm>
          <a:prstGeom prst="roundRect">
            <a:avLst>
              <a:gd name="adj" fmla="val 4217"/>
            </a:avLst>
          </a:prstGeom>
          <a:solidFill>
            <a:schemeClr val="bg2"/>
          </a:solidFill>
          <a:ln/>
        </p:spPr>
      </p:sp>
      <p:sp>
        <p:nvSpPr>
          <p:cNvPr id="17" name="Shape 14"/>
          <p:cNvSpPr/>
          <p:nvPr/>
        </p:nvSpPr>
        <p:spPr>
          <a:xfrm>
            <a:off x="4429658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42965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М3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978298" y="1536192"/>
            <a:ext cx="9575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15 кампаний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429658" y="2103120"/>
            <a:ext cx="14604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Первые отправки «лоб в лоб»: push и in‑app, 2 сервиса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429658" y="3108960"/>
            <a:ext cx="14604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Гейт: </a:t>
            </a:r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 критических, возвраты ≤ 25%</a:t>
            </a:r>
            <a:endParaRPr lang="en-US" sz="1100" dirty="0"/>
          </a:p>
        </p:txBody>
      </p:sp>
      <p:sp>
        <p:nvSpPr>
          <p:cNvPr id="22" name="m3"/>
          <p:cNvSpPr/>
          <p:nvPr/>
        </p:nvSpPr>
        <p:spPr>
          <a:xfrm>
            <a:off x="6164428" y="1371600"/>
            <a:ext cx="1734769" cy="2514600"/>
          </a:xfrm>
          <a:prstGeom prst="roundRect">
            <a:avLst>
              <a:gd name="adj" fmla="val 4217"/>
            </a:avLst>
          </a:prstGeom>
          <a:solidFill>
            <a:schemeClr val="bg2"/>
          </a:solidFill>
          <a:ln/>
        </p:spPr>
      </p:sp>
      <p:sp>
        <p:nvSpPr>
          <p:cNvPr id="23" name="Shape 20"/>
          <p:cNvSpPr/>
          <p:nvPr/>
        </p:nvSpPr>
        <p:spPr>
          <a:xfrm>
            <a:off x="6301588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158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М4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850228" y="1536192"/>
            <a:ext cx="9575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25 + 25 у людей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301588" y="2103120"/>
            <a:ext cx="14604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Рандомизация по кампаниям, 6 сервисов, + e‑mail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301588" y="3108960"/>
            <a:ext cx="14604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Гейт: </a:t>
            </a:r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все стоп-метрики зелёные</a:t>
            </a:r>
            <a:endParaRPr lang="en-US" sz="1100" dirty="0"/>
          </a:p>
        </p:txBody>
      </p:sp>
      <p:sp>
        <p:nvSpPr>
          <p:cNvPr id="28" name="m4"/>
          <p:cNvSpPr/>
          <p:nvPr/>
        </p:nvSpPr>
        <p:spPr>
          <a:xfrm>
            <a:off x="8036357" y="1371600"/>
            <a:ext cx="1734769" cy="2514600"/>
          </a:xfrm>
          <a:prstGeom prst="roundRect">
            <a:avLst>
              <a:gd name="adj" fmla="val 4217"/>
            </a:avLst>
          </a:prstGeom>
          <a:solidFill>
            <a:schemeClr val="bg2"/>
          </a:solidFill>
          <a:ln/>
        </p:spPr>
      </p:sp>
      <p:sp>
        <p:nvSpPr>
          <p:cNvPr id="29" name="Shape 26"/>
          <p:cNvSpPr/>
          <p:nvPr/>
        </p:nvSpPr>
        <p:spPr>
          <a:xfrm>
            <a:off x="8173517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173517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М5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722157" y="1536192"/>
            <a:ext cx="9575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25 + 25 у людей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173517" y="2103120"/>
            <a:ext cx="14604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К0 для проверенных шаблонов, SMS только К2–К3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173517" y="3108960"/>
            <a:ext cx="14604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Гейт: </a:t>
            </a:r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срок до готовности ≤ 3 дней</a:t>
            </a:r>
            <a:endParaRPr lang="en-US" sz="1100" dirty="0"/>
          </a:p>
        </p:txBody>
      </p:sp>
      <p:sp>
        <p:nvSpPr>
          <p:cNvPr id="34" name="m5"/>
          <p:cNvSpPr/>
          <p:nvPr/>
        </p:nvSpPr>
        <p:spPr>
          <a:xfrm>
            <a:off x="9908286" y="1371600"/>
            <a:ext cx="1734769" cy="2514600"/>
          </a:xfrm>
          <a:prstGeom prst="roundRect">
            <a:avLst>
              <a:gd name="adj" fmla="val 4217"/>
            </a:avLst>
          </a:prstGeom>
          <a:solidFill>
            <a:schemeClr val="accent1"/>
          </a:solidFill>
          <a:ln/>
        </p:spPr>
      </p:sp>
      <p:sp>
        <p:nvSpPr>
          <p:cNvPr id="35" name="Shape 32"/>
          <p:cNvSpPr/>
          <p:nvPr/>
        </p:nvSpPr>
        <p:spPr>
          <a:xfrm>
            <a:off x="10045446" y="1508760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04544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М6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0594086" y="1536192"/>
            <a:ext cx="9575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30 + 30 у людей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045446" y="2103120"/>
            <a:ext cx="14604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7 сервисов. Итог: качество и экономика по факту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10045446" y="3108960"/>
            <a:ext cx="14604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Гейт: </a:t>
            </a:r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решение о тираже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4114800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Что меряем и как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548640" y="4480560"/>
            <a:ext cx="53643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Не хуже людей: </a:t>
            </a:r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кампании случайно делятся на плечи, 80 на плечо при нужных 78 (σ 15 п.п., δ 6 п.п.)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+4,2% отдачи: </a:t>
            </a:r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прирост — по клиентам в кампаниях «лоб в лоб», экономия на каналах — по расходу на инкрементальный заказ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FTE: </a:t>
            </a:r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учёт времени, цель ≤ 2,5 человеко-дня на кампанию против 4,2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6278728" y="4114800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Команда: пять по условиям плюс шестой с месяца 1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6278728" y="4526280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  </a:t>
            </a:r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Продакт пилота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6278728" y="4828032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  </a:t>
            </a:r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LLM/ML-инженер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6278728" y="5129784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  </a:t>
            </a:r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Бэкенд-разработчик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9052331" y="4526280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  </a:t>
            </a:r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Аналитик экспериментов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9052331" y="4828032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  </a:t>
            </a:r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Методолог из редакции</a:t>
            </a:r>
            <a:endParaRPr lang="en-US" sz="1200" dirty="0"/>
          </a:p>
        </p:txBody>
      </p:sp>
      <p:sp>
        <p:nvSpPr>
          <p:cNvPr id="48" name="sixth"/>
          <p:cNvSpPr/>
          <p:nvPr/>
        </p:nvSpPr>
        <p:spPr>
          <a:xfrm>
            <a:off x="9052331" y="5138928"/>
            <a:ext cx="2590724" cy="1124712"/>
          </a:xfrm>
          <a:prstGeom prst="roundRect">
            <a:avLst>
              <a:gd name="adj" fmla="val 6504"/>
            </a:avLst>
          </a:prstGeom>
          <a:solidFill>
            <a:schemeClr val="bg2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9189491" y="5212080"/>
            <a:ext cx="23164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6  Интеграционный бэкенд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бэкенд-работ 27 недель при ёмкости ~20; без него шаг 7 остаётся ручным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rod AI">
  <a:themeElements>
    <a:clrScheme name="Gorod AI">
      <a:dk1>
        <a:srgbClr val="1B1E23"/>
      </a:dk1>
      <a:lt1>
        <a:srgbClr val="FFFFFF"/>
      </a:lt1>
      <a:dk2>
        <a:srgbClr val="5B6472"/>
      </a:dk2>
      <a:lt2>
        <a:srgbClr val="F3F4F6"/>
      </a:lt2>
      <a:accent1>
        <a:srgbClr val="FFC21A"/>
      </a:accent1>
      <a:accent2>
        <a:srgbClr val="1F7A4D"/>
      </a:accent2>
      <a:accent3>
        <a:srgbClr val="B42318"/>
      </a:accent3>
      <a:accent4>
        <a:srgbClr val="6D28D9"/>
      </a:accent4>
      <a:accent5>
        <a:srgbClr val="2563EB"/>
      </a:accent5>
      <a:accent6>
        <a:srgbClr val="9CA3AF"/>
      </a:accent6>
      <a:hlink>
        <a:srgbClr val="2563EB"/>
      </a:hlink>
      <a:folHlink>
        <a:srgbClr val="6D28D9"/>
      </a:folHlink>
    </a:clrScheme>
    <a:fontScheme name="Gorod A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AI-маркетолог для Города</dc:title>
  <dc:subject>PptxGenJS Presentation</dc:subject>
  <dc:creator>Максим</dc:creator>
  <cp:lastModifiedBy>Максим</cp:lastModifiedBy>
  <cp:revision>1</cp:revision>
  <dcterms:created xsi:type="dcterms:W3CDTF">2026-10-19T14:30:43Z</dcterms:created>
  <dcterms:modified xsi:type="dcterms:W3CDTF">2026-10-19T14:30:43Z</dcterms:modified>
</cp:coreProperties>
</file>